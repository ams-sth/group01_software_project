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2"/>
  </p:normalViewPr>
  <p:slideViewPr>
    <p:cSldViewPr snapToGrid="0" snapToObjects="1">
      <p:cViewPr varScale="1">
        <p:scale>
          <a:sx n="113" d="100"/>
          <a:sy n="113" d="100"/>
        </p:scale>
        <p:origin x="54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68799" y="502920"/>
            <a:ext cx="3054096" cy="1298448"/>
          </a:xfrm>
          <a:prstGeom prst="roundRect">
            <a:avLst>
              <a:gd name="adj" fmla="val 8000"/>
            </a:avLst>
          </a:prstGeom>
          <a:solidFill>
            <a:srgbClr val="EE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527" y="612648"/>
            <a:ext cx="2834640" cy="1078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9659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0F0F0"/>
                </a:solidFill>
                <a:latin typeface="Arial"/>
              </a:rPr>
              <a:t>CHARLES DARWIN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37744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A09E96"/>
                </a:solidFill>
                <a:latin typeface="Arial"/>
              </a:rPr>
              <a:t>SYDNEY CAMPUS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063240"/>
            <a:ext cx="121916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0" b="1" i="0">
                <a:solidFill>
                  <a:srgbClr val="F0F0F0"/>
                </a:solidFill>
                <a:latin typeface="Arial"/>
              </a:rPr>
              <a:t>SplitSync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8620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A09E96"/>
                </a:solidFill>
                <a:latin typeface="Arial"/>
              </a:rPr>
              <a:t>Group-based expense splitting, built as a PWA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98567" y="4526280"/>
            <a:ext cx="2194560" cy="0"/>
          </a:xfrm>
          <a:prstGeom prst="line">
            <a:avLst/>
          </a:prstGeom>
          <a:ln w="19050">
            <a:solidFill>
              <a:srgbClr val="5A58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0" y="470916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0F0F0"/>
                </a:solidFill>
                <a:latin typeface="Arial"/>
              </a:rPr>
              <a:t>PRT585 · Software Engineering Tools and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07492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A09E96"/>
                </a:solidFill>
                <a:latin typeface="Arial"/>
              </a:rPr>
              <a:t>Final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715000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0F0F0"/>
                </a:solidFill>
                <a:latin typeface="Arial"/>
              </a:rPr>
              <a:t>Amsh Shrestha (S394695)  ·  Devi Maya (S388017)  ·  Shanti Moktan (S395240)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080760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A09E96"/>
                </a:solidFill>
                <a:latin typeface="Arial"/>
              </a:rPr>
              <a:t>Submitted to Ahmedi Azra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828800"/>
            <a:ext cx="52120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0" b="1">
                <a:solidFill>
                  <a:srgbClr val="1D4ED8"/>
                </a:solidFill>
                <a:latin typeface="Arial"/>
              </a:rPr>
              <a:t>•  </a:t>
            </a:r>
            <a:r>
              <a:rPr sz="2000" b="1">
                <a:solidFill>
                  <a:srgbClr val="0B1220"/>
                </a:solidFill>
                <a:latin typeface="Arial"/>
              </a:rPr>
              <a:t>01  </a:t>
            </a:r>
            <a:r>
              <a:rPr sz="2000">
                <a:solidFill>
                  <a:srgbClr val="57657A"/>
                </a:solidFill>
                <a:latin typeface="Arial"/>
              </a:rPr>
              <a:t>Introduction &amp; problem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0" b="1">
                <a:solidFill>
                  <a:srgbClr val="1D4ED8"/>
                </a:solidFill>
                <a:latin typeface="Arial"/>
              </a:rPr>
              <a:t>•  </a:t>
            </a:r>
            <a:r>
              <a:rPr sz="2000" b="1">
                <a:solidFill>
                  <a:srgbClr val="0B1220"/>
                </a:solidFill>
                <a:latin typeface="Arial"/>
              </a:rPr>
              <a:t>02  </a:t>
            </a:r>
            <a:r>
              <a:rPr sz="2000">
                <a:solidFill>
                  <a:srgbClr val="57657A"/>
                </a:solidFill>
                <a:latin typeface="Arial"/>
              </a:rPr>
              <a:t>Aim &amp; objectives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0" b="1">
                <a:solidFill>
                  <a:srgbClr val="1D4ED8"/>
                </a:solidFill>
                <a:latin typeface="Arial"/>
              </a:rPr>
              <a:t>•  </a:t>
            </a:r>
            <a:r>
              <a:rPr sz="2000" b="1">
                <a:solidFill>
                  <a:srgbClr val="0B1220"/>
                </a:solidFill>
                <a:latin typeface="Arial"/>
              </a:rPr>
              <a:t>03  </a:t>
            </a:r>
            <a:r>
              <a:rPr sz="2000">
                <a:solidFill>
                  <a:srgbClr val="57657A"/>
                </a:solidFill>
                <a:latin typeface="Arial"/>
              </a:rPr>
              <a:t>Scope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0" b="1">
                <a:solidFill>
                  <a:srgbClr val="1D4ED8"/>
                </a:solidFill>
                <a:latin typeface="Arial"/>
              </a:rPr>
              <a:t>•  </a:t>
            </a:r>
            <a:r>
              <a:rPr sz="2000" b="1">
                <a:solidFill>
                  <a:srgbClr val="0B1220"/>
                </a:solidFill>
                <a:latin typeface="Arial"/>
              </a:rPr>
              <a:t>04  </a:t>
            </a:r>
            <a:r>
              <a:rPr sz="2000">
                <a:solidFill>
                  <a:srgbClr val="57657A"/>
                </a:solidFill>
                <a:latin typeface="Arial"/>
              </a:rPr>
              <a:t>System architecture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0" b="1">
                <a:solidFill>
                  <a:srgbClr val="1D4ED8"/>
                </a:solidFill>
                <a:latin typeface="Arial"/>
              </a:rPr>
              <a:t>•  </a:t>
            </a:r>
            <a:r>
              <a:rPr sz="2000" b="1">
                <a:solidFill>
                  <a:srgbClr val="0B1220"/>
                </a:solidFill>
                <a:latin typeface="Arial"/>
              </a:rPr>
              <a:t>05  </a:t>
            </a:r>
            <a:r>
              <a:rPr sz="2000">
                <a:solidFill>
                  <a:srgbClr val="57657A"/>
                </a:solidFill>
                <a:latin typeface="Arial"/>
              </a:rPr>
              <a:t>Core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949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0" b="1">
                <a:solidFill>
                  <a:srgbClr val="1D4ED8"/>
                </a:solidFill>
                <a:latin typeface="Arial"/>
              </a:rPr>
              <a:t>•  </a:t>
            </a:r>
            <a:r>
              <a:rPr sz="2000" b="1">
                <a:solidFill>
                  <a:srgbClr val="0B1220"/>
                </a:solidFill>
                <a:latin typeface="Arial"/>
              </a:rPr>
              <a:t>06  </a:t>
            </a:r>
            <a:r>
              <a:rPr sz="2000">
                <a:solidFill>
                  <a:srgbClr val="57657A"/>
                </a:solidFill>
                <a:latin typeface="Arial"/>
              </a:rPr>
              <a:t>Features: planned vs. implemented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0" b="1">
                <a:solidFill>
                  <a:srgbClr val="1D4ED8"/>
                </a:solidFill>
                <a:latin typeface="Arial"/>
              </a:rPr>
              <a:t>•  </a:t>
            </a:r>
            <a:r>
              <a:rPr sz="2000" b="1">
                <a:solidFill>
                  <a:srgbClr val="0B1220"/>
                </a:solidFill>
                <a:latin typeface="Arial"/>
              </a:rPr>
              <a:t>07  </a:t>
            </a:r>
            <a:r>
              <a:rPr sz="2000">
                <a:solidFill>
                  <a:srgbClr val="57657A"/>
                </a:solidFill>
                <a:latin typeface="Arial"/>
              </a:rPr>
              <a:t>Testing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0" b="1">
                <a:solidFill>
                  <a:srgbClr val="1D4ED8"/>
                </a:solidFill>
                <a:latin typeface="Arial"/>
              </a:rPr>
              <a:t>•  </a:t>
            </a:r>
            <a:r>
              <a:rPr sz="2000" b="1">
                <a:solidFill>
                  <a:srgbClr val="0B1220"/>
                </a:solidFill>
                <a:latin typeface="Arial"/>
              </a:rPr>
              <a:t>08  </a:t>
            </a:r>
            <a:r>
              <a:rPr sz="2000">
                <a:solidFill>
                  <a:srgbClr val="57657A"/>
                </a:solidFill>
                <a:latin typeface="Arial"/>
              </a:rPr>
              <a:t>Known gaps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0" b="1">
                <a:solidFill>
                  <a:srgbClr val="1D4ED8"/>
                </a:solidFill>
                <a:latin typeface="Arial"/>
              </a:rPr>
              <a:t>•  </a:t>
            </a:r>
            <a:r>
              <a:rPr sz="2000" b="1">
                <a:solidFill>
                  <a:srgbClr val="0B1220"/>
                </a:solidFill>
                <a:latin typeface="Arial"/>
              </a:rPr>
              <a:t>09  </a:t>
            </a:r>
            <a:r>
              <a:rPr sz="2000">
                <a:solidFill>
                  <a:srgbClr val="57657A"/>
                </a:solidFill>
                <a:latin typeface="Arial"/>
              </a:rPr>
              <a:t>Usage analytics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0" b="1">
                <a:solidFill>
                  <a:srgbClr val="1D4ED8"/>
                </a:solidFill>
                <a:latin typeface="Arial"/>
              </a:rPr>
              <a:t>•  </a:t>
            </a:r>
            <a:r>
              <a:rPr sz="2000" b="1">
                <a:solidFill>
                  <a:srgbClr val="0B1220"/>
                </a:solidFill>
                <a:latin typeface="Arial"/>
              </a:rPr>
              <a:t>10  </a:t>
            </a:r>
            <a:r>
              <a:rPr sz="2000">
                <a:solidFill>
                  <a:srgbClr val="57657A"/>
                </a:solidFill>
                <a:latin typeface="Arial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01 ·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What is SplitSync?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828800"/>
            <a:ext cx="10789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B1220"/>
                </a:solidFill>
                <a:latin typeface="Arial"/>
              </a:rPr>
              <a:t>SplitSync is a group-based expense-splitting Progressive Web App. It lets groups of people, like roommates or travel groups, track, split and settle shared expenses in a synchronised, group-based environment.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57657A"/>
                </a:solidFill>
                <a:latin typeface="Arial"/>
              </a:rPr>
              <a:t>It is explicitly group-oriented: no individual/personal expense tracking outside a group context.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E9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The problem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0B1220"/>
                </a:solidFill>
                <a:latin typeface="Arial"/>
              </a:rPr>
              <a:t>Splitting shared costs in a group is ambiguous. Who paid, who owes, and how much, gets lost in chat threads and mental maths.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443484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E9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The fix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0B1220"/>
                </a:solidFill>
                <a:latin typeface="Arial"/>
              </a:rPr>
              <a:t>One shared source of truth per group: every expense, every split method, every settlement, with running balances always 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Introduction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02 · AIM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What we set out to build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783080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1">
                <a:solidFill>
                  <a:srgbClr val="0B1220"/>
                </a:solidFill>
                <a:latin typeface="Arial"/>
              </a:rPr>
              <a:t>To build a mobile-first, web-accessible app that removes the friction and ambiguity of splitting shared costs within a group, and makes it clear at any time who owes what to whom.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788920"/>
            <a:ext cx="10725912" cy="0"/>
          </a:xfrm>
          <a:prstGeom prst="line">
            <a:avLst/>
          </a:prstGeom>
          <a:ln w="12700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17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D4ED8"/>
                </a:solidFill>
                <a:latin typeface="Arial"/>
              </a:rP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107899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800" b="1">
                <a:solidFill>
                  <a:srgbClr val="1D4ED8"/>
                </a:solidFill>
                <a:latin typeface="Arial"/>
              </a:rPr>
              <a:t>•  </a:t>
            </a:r>
            <a:r>
              <a:rPr sz="1800">
                <a:solidFill>
                  <a:srgbClr val="57657A"/>
                </a:solidFill>
                <a:latin typeface="Arial"/>
              </a:rPr>
              <a:t>Let any authenticated user create and manage spending groups.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800" b="1">
                <a:solidFill>
                  <a:srgbClr val="1D4ED8"/>
                </a:solidFill>
                <a:latin typeface="Arial"/>
              </a:rPr>
              <a:t>•  </a:t>
            </a:r>
            <a:r>
              <a:rPr sz="1800">
                <a:solidFill>
                  <a:srgbClr val="57657A"/>
                </a:solidFill>
                <a:latin typeface="Arial"/>
              </a:rPr>
              <a:t>Support recording expenses split three ways: equally, unequally (custom amounts), or by percentage.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800" b="1">
                <a:solidFill>
                  <a:srgbClr val="1D4ED8"/>
                </a:solidFill>
                <a:latin typeface="Arial"/>
              </a:rPr>
              <a:t>•  </a:t>
            </a:r>
            <a:r>
              <a:rPr sz="1800">
                <a:solidFill>
                  <a:srgbClr val="57657A"/>
                </a:solidFill>
                <a:latin typeface="Arial"/>
              </a:rPr>
              <a:t>Track and surface running balances (who owes whom) per group, without processing actual payments.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800" b="1">
                <a:solidFill>
                  <a:srgbClr val="1D4ED8"/>
                </a:solidFill>
                <a:latin typeface="Arial"/>
              </a:rPr>
              <a:t>•  </a:t>
            </a:r>
            <a:r>
              <a:rPr sz="1800">
                <a:solidFill>
                  <a:srgbClr val="57657A"/>
                </a:solidFill>
                <a:latin typeface="Arial"/>
              </a:rPr>
              <a:t>Let members record settlements against those balances.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800" b="1">
                <a:solidFill>
                  <a:srgbClr val="1D4ED8"/>
                </a:solidFill>
                <a:latin typeface="Arial"/>
              </a:rPr>
              <a:t>•  </a:t>
            </a:r>
            <a:r>
              <a:rPr sz="1800">
                <a:solidFill>
                  <a:srgbClr val="57657A"/>
                </a:solidFill>
                <a:latin typeface="Arial"/>
              </a:rPr>
              <a:t>Deliver it as a responsive PWA usable on both desktop and mobile browsers.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Aim &amp; 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03 ·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In scope vs. out of scope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1783080"/>
            <a:ext cx="5257800" cy="4389120"/>
          </a:xfrm>
          <a:prstGeom prst="roundRect">
            <a:avLst>
              <a:gd name="adj" fmla="val 4000"/>
            </a:avLst>
          </a:prstGeom>
          <a:solidFill>
            <a:srgbClr val="E9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55080" y="1783080"/>
            <a:ext cx="5257800" cy="4389120"/>
          </a:xfrm>
          <a:prstGeom prst="roundRect">
            <a:avLst>
              <a:gd name="adj" fmla="val 4000"/>
            </a:avLst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5803D"/>
                </a:solidFill>
                <a:latin typeface="Arial"/>
              </a:rPr>
              <a:t>IN SCOPE (per SRS)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47091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Group creation / membership management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Expense entry, editing, viewing, removal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Equal / unequal / percentage split configuration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Receipt / photo attachment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Expense history &amp; balance visibility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Settlement recording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Email notifications for unpaid balances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Recurring expenses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Group activity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96596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A09"/>
                </a:solidFill>
                <a:latin typeface="Arial"/>
              </a:rPr>
              <a:t>OUT OF SCOPE (per SRS)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7091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B45A09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Real-time in-app payment processing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B45A09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Removing a member with an unsettled balance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B45A09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Multi-currency support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B45A09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A native mobile app (PWA only)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B45A09"/>
                </a:solidFill>
                <a:latin typeface="Arial"/>
              </a:rPr>
              <a:t>•  </a:t>
            </a:r>
            <a:r>
              <a:rPr sz="1500">
                <a:solidFill>
                  <a:srgbClr val="57657A"/>
                </a:solidFill>
                <a:latin typeface="Arial"/>
              </a:rPr>
              <a:t>Debt simplification / netting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System architecture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23747" y="2103120"/>
            <a:ext cx="3246120" cy="228600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ctr"/>
          <a:lstStyle/>
          <a:p>
            <a:pPr algn="ctr"/>
            <a:r>
              <a:rPr sz="1600" b="1">
                <a:solidFill>
                  <a:srgbClr val="1D4ED8"/>
                </a:solidFill>
                <a:latin typeface="Arial"/>
              </a:rPr>
              <a:t>Client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React + TypeScript PWA (Vite)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lib/api.ts talks to the API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lib/session.ts handles the JWT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Light / dark theme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Key deps: React 19, React Router 7, Tailwind CSS 4, Cypress (e2e tests)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2787" y="2103120"/>
            <a:ext cx="3246120" cy="228600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ctr"/>
          <a:lstStyle/>
          <a:p>
            <a:pPr algn="ctr"/>
            <a:r>
              <a:rPr sz="1600" b="1">
                <a:solidFill>
                  <a:srgbClr val="1D4ED8"/>
                </a:solidFill>
                <a:latin typeface="Arial"/>
              </a:rPr>
              <a:t>API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ASP.NET Core (.NET 10)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SplitSync.Api Web API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ASP.NET Core Identity + JWT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[Authorize] on every route but auth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Key deps: EF Core 10, JWT Bearer, xUnit (integration tests)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1827" y="2103120"/>
            <a:ext cx="3246120" cy="2286000"/>
          </a:xfrm>
          <a:prstGeom prst="roundRect">
            <a:avLst>
              <a:gd name="adj" fmla="val 8000"/>
            </a:avLst>
          </a:prstGeom>
          <a:solidFill>
            <a:srgbClr val="F5F4F1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64592" rtlCol="0" anchor="ctr"/>
          <a:lstStyle/>
          <a:p>
            <a:pPr algn="ctr"/>
            <a:r>
              <a:rPr sz="1600" b="1">
                <a:solidFill>
                  <a:srgbClr val="0B1220"/>
                </a:solidFill>
                <a:latin typeface="Arial"/>
              </a:rPr>
              <a:t>Data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PostgreSQL on Supabase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EF Core, migrations in server/Migrations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Receipts in their own table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behind an IReceiptStorage interface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0B1220"/>
                </a:solidFill>
                <a:latin typeface="Arial"/>
              </a:rPr>
              <a:t>Key deps: Npgsql.EntityFrameworkCore.PostgreSQL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69867" y="3246120"/>
            <a:ext cx="502920" cy="0"/>
          </a:xfrm>
          <a:prstGeom prst="line">
            <a:avLst/>
          </a:prstGeom>
          <a:ln w="317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18907" y="3246120"/>
            <a:ext cx="502920" cy="0"/>
          </a:xfrm>
          <a:prstGeom prst="line">
            <a:avLst/>
          </a:prstGeom>
          <a:ln w="317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800600"/>
            <a:ext cx="107899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57657A"/>
                </a:solidFill>
                <a:latin typeface="Arial"/>
              </a:rPr>
              <a:t>Gap vs. SRS: the SRS specified Kinde for login and Neon for the database. The team switched to ASP.NET Core Identity and Supabase Postgres instead, documented in Section 6 of the project report.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05 · CORE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Accounts, groups &amp; expenses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828800"/>
            <a:ext cx="107899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1D4ED8"/>
                </a:solidFill>
                <a:latin typeface="Arial"/>
              </a:rPr>
              <a:t>•  </a:t>
            </a:r>
            <a:r>
              <a:rPr sz="1900" b="1">
                <a:solidFill>
                  <a:srgbClr val="0B1220"/>
                </a:solidFill>
                <a:latin typeface="Arial"/>
              </a:rPr>
              <a:t>Authentication  </a:t>
            </a:r>
            <a:r>
              <a:rPr sz="1900">
                <a:solidFill>
                  <a:srgbClr val="57657A"/>
                </a:solidFill>
                <a:latin typeface="Arial"/>
              </a:rPr>
              <a:t>Register / sign in with email or username, JWT-based sessions, self-service account deletion.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1D4ED8"/>
                </a:solidFill>
                <a:latin typeface="Arial"/>
              </a:rPr>
              <a:t>•  </a:t>
            </a:r>
            <a:r>
              <a:rPr sz="1900" b="1">
                <a:solidFill>
                  <a:srgbClr val="0B1220"/>
                </a:solidFill>
                <a:latin typeface="Arial"/>
              </a:rPr>
              <a:t>Groups  </a:t>
            </a:r>
            <a:r>
              <a:rPr sz="1900">
                <a:solidFill>
                  <a:srgbClr val="57657A"/>
                </a:solidFill>
                <a:latin typeface="Arial"/>
              </a:rPr>
              <a:t>Create, rename, delete (creator-only); add/remove members by username search; join by group ID; leave a group.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1D4ED8"/>
                </a:solidFill>
                <a:latin typeface="Arial"/>
              </a:rPr>
              <a:t>•  </a:t>
            </a:r>
            <a:r>
              <a:rPr sz="1900" b="1">
                <a:solidFill>
                  <a:srgbClr val="0B1220"/>
                </a:solidFill>
                <a:latin typeface="Arial"/>
              </a:rPr>
              <a:t>Expenses &amp; splitting  </a:t>
            </a:r>
            <a:r>
              <a:rPr sz="1900">
                <a:solidFill>
                  <a:srgbClr val="57657A"/>
                </a:solidFill>
                <a:latin typeface="Arial"/>
              </a:rPr>
              <a:t>Equal, unequal (custom $) or percentage splits, validated server-side and computed in whole cents so shares always add up exactly.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1D4ED8"/>
                </a:solidFill>
                <a:latin typeface="Arial"/>
              </a:rPr>
              <a:t>•  </a:t>
            </a:r>
            <a:r>
              <a:rPr sz="1900" b="1">
                <a:solidFill>
                  <a:srgbClr val="0B1220"/>
                </a:solidFill>
                <a:latin typeface="Arial"/>
              </a:rPr>
              <a:t>Edit &amp; delete expenses  </a:t>
            </a:r>
            <a:r>
              <a:rPr sz="1900">
                <a:solidFill>
                  <a:srgbClr val="57657A"/>
                </a:solidFill>
                <a:latin typeface="Arial"/>
              </a:rPr>
              <a:t>The payer can edit or delete an expense after the fact, Week 08 addition, server re-runs the same split validation.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Core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05 · CORE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Balances, notifications &amp; receipts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828800"/>
            <a:ext cx="107899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1D4ED8"/>
                </a:solidFill>
                <a:latin typeface="Arial"/>
              </a:rPr>
              <a:t>•  </a:t>
            </a:r>
            <a:r>
              <a:rPr sz="1900" b="1">
                <a:solidFill>
                  <a:srgbClr val="0B1220"/>
                </a:solidFill>
                <a:latin typeface="Arial"/>
              </a:rPr>
              <a:t>Settlements &amp; balances  </a:t>
            </a:r>
            <a:r>
              <a:rPr sz="1900">
                <a:solidFill>
                  <a:srgbClr val="57657A"/>
                </a:solidFill>
                <a:latin typeface="Arial"/>
              </a:rPr>
              <a:t>Net balance per member, computed live from every expense share and settlement, no cached totals to keep in sync.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1D4ED8"/>
                </a:solidFill>
                <a:latin typeface="Arial"/>
              </a:rPr>
              <a:t>•  </a:t>
            </a:r>
            <a:r>
              <a:rPr sz="1900" b="1">
                <a:solidFill>
                  <a:srgbClr val="0B1220"/>
                </a:solidFill>
                <a:latin typeface="Arial"/>
              </a:rPr>
              <a:t>Notifications  </a:t>
            </a:r>
            <a:r>
              <a:rPr sz="1900">
                <a:solidFill>
                  <a:srgbClr val="57657A"/>
                </a:solidFill>
                <a:latin typeface="Arial"/>
              </a:rPr>
              <a:t>In-app bell with unread count: fires when you're added to or removed from a group, an expense is added, or a settlement is recorded.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1D4ED8"/>
                </a:solidFill>
                <a:latin typeface="Arial"/>
              </a:rPr>
              <a:t>•  </a:t>
            </a:r>
            <a:r>
              <a:rPr sz="1900" b="1">
                <a:solidFill>
                  <a:srgbClr val="0B1220"/>
                </a:solidFill>
                <a:latin typeface="Arial"/>
              </a:rPr>
              <a:t>Receipt photos  </a:t>
            </a:r>
            <a:r>
              <a:rPr sz="1900">
                <a:solidFill>
                  <a:srgbClr val="57657A"/>
                </a:solidFill>
                <a:latin typeface="Arial"/>
              </a:rPr>
              <a:t>Attach, view or remove a photo per expense; resized in the browser before upload; stored behind an IReceiptStorage interface.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1D4ED8"/>
                </a:solidFill>
                <a:latin typeface="Arial"/>
              </a:rPr>
              <a:t>•  </a:t>
            </a:r>
            <a:r>
              <a:rPr sz="1900" b="1">
                <a:solidFill>
                  <a:srgbClr val="0B1220"/>
                </a:solidFill>
                <a:latin typeface="Arial"/>
              </a:rPr>
              <a:t>Theming  </a:t>
            </a:r>
            <a:r>
              <a:rPr sz="1900">
                <a:solidFill>
                  <a:srgbClr val="57657A"/>
                </a:solidFill>
                <a:latin typeface="Arial"/>
              </a:rPr>
              <a:t>Light/dark theme toggle across the whole app, matching the system's colour scheme by default.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Core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06 ·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Features: planned vs. implemented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0789920" cy="4407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0F0F0"/>
                          </a:solidFill>
                          <a:latin typeface="Arial"/>
                        </a:rPr>
                        <a:t>Feature (SRS)</a:t>
                      </a:r>
                    </a:p>
                  </a:txBody>
                  <a:tcPr anchor="ctr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0F0F0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Account create / login / logout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5803D"/>
                          </a:solidFill>
                          <a:latin typeface="Arial"/>
                        </a:rPr>
                        <a:t>Implemented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Account deletion (blocked if owning a group)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5803D"/>
                          </a:solidFill>
                          <a:latin typeface="Arial"/>
                        </a:rPr>
                        <a:t>Implemented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Group create / rename / delete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5803D"/>
                          </a:solidFill>
                          <a:latin typeface="Arial"/>
                        </a:rPr>
                        <a:t>Implemented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Add/remove members, join by ID, leave group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5803D"/>
                          </a:solidFill>
                          <a:latin typeface="Arial"/>
                        </a:rPr>
                        <a:t>Implemented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Equal / unequal / percentage splitting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5803D"/>
                          </a:solidFill>
                          <a:latin typeface="Arial"/>
                        </a:rPr>
                        <a:t>Implemented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Per-group balance view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5803D"/>
                          </a:solidFill>
                          <a:latin typeface="Arial"/>
                        </a:rPr>
                        <a:t>Implemented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Settlement recording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5803D"/>
                          </a:solidFill>
                          <a:latin typeface="Arial"/>
                        </a:rPr>
                        <a:t>Implemented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Expense editing / removal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5803D"/>
                          </a:solidFill>
                          <a:latin typeface="Arial"/>
                        </a:rPr>
                        <a:t>Implemented (Week 08, payer only)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Receipt / photo attachment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5803D"/>
                          </a:solidFill>
                          <a:latin typeface="Arial"/>
                        </a:rPr>
                        <a:t>Implemented (Week 09)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Notifications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B45A09"/>
                          </a:solidFill>
                          <a:latin typeface="Arial"/>
                        </a:rPr>
                        <a:t>In-app only, email reminders not built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Recurring expenses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B02A2A"/>
                          </a:solidFill>
                          <a:latin typeface="Arial"/>
                        </a:rPr>
                        <a:t>Not implemented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0B1220"/>
                          </a:solidFill>
                          <a:latin typeface="Arial"/>
                        </a:rPr>
                        <a:t>Activity log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B02A2A"/>
                          </a:solidFill>
                          <a:latin typeface="Arial"/>
                        </a:rPr>
                        <a:t>Not implemented (Transactions tab instead)</a:t>
                      </a:r>
                    </a:p>
                  </a:txBody>
                  <a:tcPr marL="109728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Features: Planned vs. 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07 ·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Testing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8288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D4ED8"/>
                </a:solidFill>
                <a:latin typeface="Arial"/>
              </a:rPr>
              <a:t>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5257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1D4ED8"/>
                </a:solidFill>
                <a:latin typeface="Arial"/>
              </a:rPr>
              <a:t>•  Integration tests in server.Tests, in-memory database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1D4ED8"/>
                </a:solidFill>
                <a:latin typeface="Arial"/>
              </a:rPr>
              <a:t>•  Covers auth, groups, expenses (incl. split maths and edit/delete access checks), settlements, receipts, health endpoint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1D4ED8"/>
                </a:solidFill>
                <a:latin typeface="Arial"/>
              </a:rPr>
              <a:t>•  61 tests, all passing as of 6 Oct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D4ED8"/>
                </a:solidFill>
                <a:latin typeface="Arial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53035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1D4ED8"/>
                </a:solidFill>
                <a:latin typeface="Arial"/>
              </a:rPr>
              <a:t>•  Test cases for auth, groups, expenses, settlements, recurring expenses, activity, settings, all passing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1D4ED8"/>
                </a:solidFill>
                <a:latin typeface="Arial"/>
              </a:rPr>
              <a:t>•  Documentation/Test Cases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1D4ED8"/>
                </a:solidFill>
                <a:latin typeface="Arial"/>
              </a:rPr>
              <a:t>•  Cypress e2e tests: auth, profile, groups, group dashboard, expenses (add/edit/delete + access checks), receipts, notifications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08 · KNOWN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Known gaps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920240"/>
            <a:ext cx="107899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B45A09"/>
                </a:solidFill>
                <a:latin typeface="Arial"/>
              </a:rPr>
              <a:t>•  </a:t>
            </a:r>
            <a:r>
              <a:rPr sz="1900">
                <a:solidFill>
                  <a:srgbClr val="57657A"/>
                </a:solidFill>
                <a:latin typeface="Arial"/>
              </a:rPr>
              <a:t>Login and database host are different from the SRS (Kinde/Neon swapped for ASP.NET Identity/Supabase).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B45A09"/>
                </a:solidFill>
                <a:latin typeface="Arial"/>
              </a:rPr>
              <a:t>•  </a:t>
            </a:r>
            <a:r>
              <a:rPr sz="1900">
                <a:solidFill>
                  <a:srgbClr val="57657A"/>
                </a:solidFill>
                <a:latin typeface="Arial"/>
              </a:rPr>
              <a:t>Recurring expenses, email notifications and the activity log are in the SRS but not built.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B45A09"/>
                </a:solidFill>
                <a:latin typeface="Arial"/>
              </a:rPr>
              <a:t>•  </a:t>
            </a:r>
            <a:r>
              <a:rPr sz="1900">
                <a:solidFill>
                  <a:srgbClr val="57657A"/>
                </a:solidFill>
                <a:latin typeface="Arial"/>
              </a:rPr>
              <a:t>Percentage splits only save the dollar amount per person, not the percentage itself, so editing one re-derives percentages from the amounts and may round.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900" b="1">
                <a:solidFill>
                  <a:srgbClr val="B45A09"/>
                </a:solidFill>
                <a:latin typeface="Arial"/>
              </a:rPr>
              <a:t>•  </a:t>
            </a:r>
            <a:r>
              <a:rPr sz="1900">
                <a:solidFill>
                  <a:srgbClr val="57657A"/>
                </a:solidFill>
                <a:latin typeface="Arial"/>
              </a:rPr>
              <a:t>Only one receipt photo per expense.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Known Gaps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09 · USAGE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SplitSync at a glance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0_kpi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74519"/>
            <a:ext cx="10058400" cy="41014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7657A"/>
                </a:solidFill>
                <a:latin typeface="Arial"/>
              </a:rPr>
              <a:t>Built from a seeded sample dataset shaped like the app's schema (Jan to Sep 2026), not live production data. A Tableau-ready workbook is included in the repo.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Usage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09 · USAGE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Spend by category &amp; unsettled balances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2_spend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846320" cy="3139518"/>
          </a:xfrm>
          <a:prstGeom prst="rect">
            <a:avLst/>
          </a:prstGeom>
        </p:spPr>
      </p:pic>
      <p:pic>
        <p:nvPicPr>
          <p:cNvPr id="7" name="Picture 6" descr="06_unsettled_bala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28800"/>
            <a:ext cx="4846320" cy="43988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Usage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D4ED8"/>
                </a:solidFill>
                <a:latin typeface="Arial"/>
              </a:rPr>
              <a:t>10 ·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220"/>
                </a:solidFill>
                <a:latin typeface="Arial"/>
              </a:rPr>
              <a:t>Conclusion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097280" cy="0"/>
          </a:xfrm>
          <a:prstGeom prst="line">
            <a:avLst/>
          </a:prstGeom>
          <a:ln w="508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828800"/>
            <a:ext cx="10789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B1220"/>
                </a:solidFill>
                <a:latin typeface="Arial"/>
              </a:rPr>
              <a:t>SplitSync meets the aim and objectives set out at the start: groups, expense splitting (equal, unequal, percentage), balances, settlements, notifications, receipts, and editing/deleting an expense are all built and working.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107899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7657A"/>
                </a:solidFill>
                <a:latin typeface="Arial"/>
              </a:rPr>
              <a:t>What's left: recurring expenses and the activity log from the SRS, more frontend test coverage on the newer features, and the deployment + final QA pass before submission.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4892040"/>
            <a:ext cx="10725912" cy="0"/>
          </a:xfrm>
          <a:prstGeom prst="line">
            <a:avLst/>
          </a:prstGeom>
          <a:ln w="12700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12064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D4ED8"/>
                </a:solidFill>
                <a:latin typeface="Arial"/>
              </a:rPr>
              <a:t>Repo: github.com/ams-sth/group01_software_project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SplitSync  ·  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7657A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0F0F0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A09E96"/>
                </a:solidFill>
                <a:latin typeface="Arial"/>
              </a:rPr>
              <a:t>Questions?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98567" y="4206240"/>
            <a:ext cx="2194560" cy="0"/>
          </a:xfrm>
          <a:prstGeom prst="line">
            <a:avLst/>
          </a:prstGeom>
          <a:ln w="19050">
            <a:solidFill>
              <a:srgbClr val="5A58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0F0F0"/>
                </a:solidFill>
                <a:latin typeface="Arial"/>
              </a:rPr>
              <a:t>Amsh Shrestha · Devi Maya · Shanti Moktan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80060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A09E96"/>
                </a:solidFill>
                <a:latin typeface="Arial"/>
              </a:rPr>
              <a:t>PRT585 · Charles Darwin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1291</Words>
  <Application>Microsoft Macintosh PowerPoint</Application>
  <PresentationFormat>Widescreen</PresentationFormat>
  <Paragraphs>171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Amsh Shrestha</cp:lastModifiedBy>
  <cp:revision>1</cp:revision>
  <dcterms:created xsi:type="dcterms:W3CDTF">2013-01-27T09:14:16Z</dcterms:created>
  <dcterms:modified xsi:type="dcterms:W3CDTF">2026-10-03T04:14:23Z</dcterms:modified>
  <cp:category/>
</cp:coreProperties>
</file>